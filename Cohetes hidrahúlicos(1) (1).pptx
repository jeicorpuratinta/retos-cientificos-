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4" r:id="rId13"/>
    <p:sldId id="265" r:id="rId14"/>
  </p:sldIdLst>
  <p:sldSz cx="12192000" cy="6858000"/>
  <p:notesSz cx="6858000" cy="9144000"/>
  <p:embeddedFontLst>
    <p:embeddedFont>
      <p:font typeface="Calibri" panose="020F0502020204030204"/>
      <p:regular r:id="rId18"/>
      <p:bold r:id="rId19"/>
      <p:italic r:id="rId20"/>
      <p:boldItalic r:id="rId21"/>
    </p:embeddedFont>
    <p:embeddedFont>
      <p:font typeface="Cinzel"/>
      <p:regular r:id="rId22"/>
      <p:bold r:id="rId23"/>
    </p:embeddedFont>
    <p:embeddedFont>
      <p:font typeface="Source Code Pro" panose="020B0509030403020204"/>
      <p:regular r:id="rId24"/>
      <p:bold r:id="rId25"/>
      <p:italic r:id="rId26"/>
      <p:boldItalic r:id="rId27"/>
    </p:embeddedFont>
    <p:embeddedFont>
      <p:font typeface="Lato" panose="020F0502020204030203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fad7275-883c-4ba8-bcf3-a363c5051cf3}">
          <p14:sldIdLst>
            <p14:sldId id="256"/>
            <p14:sldId id="257"/>
            <p14:sldId id="258"/>
            <p14:sldId id="259"/>
          </p14:sldIdLst>
        </p14:section>
        <p14:section name="Sección sin título" id="{bf8be786-f216-4bbc-9367-f8fe83fbe7c4}">
          <p14:sldIdLst>
            <p14:sldId id="260"/>
            <p14:sldId id="261"/>
            <p14:sldId id="262"/>
            <p14:sldId id="263"/>
            <p14:sldId id="266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70" userDrawn="1">
          <p15:clr>
            <a:srgbClr val="000000"/>
          </p15:clr>
        </p15:guide>
        <p15:guide id="2" pos="2882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834" y="60"/>
      </p:cViewPr>
      <p:guideLst>
        <p:guide orient="horz" pos="2170"/>
        <p:guide pos="28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5e24f5cc1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g395e24f5cc1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0" name="Google Shape;1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40889" y="1852675"/>
            <a:ext cx="10710226" cy="3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78325" y="2349025"/>
            <a:ext cx="91800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     Cohetes hidráhulicos</a:t>
            </a:r>
            <a:endParaRPr sz="510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643312" y="3346102"/>
            <a:ext cx="4905300" cy="11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F0FF"/>
                </a:solidFill>
                <a:latin typeface="Source Code Pro" panose="020B0509030403020204"/>
                <a:ea typeface="Source Code Pro" panose="020B0509030403020204"/>
                <a:cs typeface="Source Code Pro" panose="020B0509030403020204"/>
                <a:sym typeface="Source Code Pro" panose="020B0509030403020204"/>
              </a:rPr>
              <a:t>Jesús Leonardo Quintero Pérez</a:t>
            </a:r>
            <a:endParaRPr sz="1800">
              <a:solidFill>
                <a:srgbClr val="00F0FF"/>
              </a:solidFill>
              <a:latin typeface="Source Code Pro" panose="020B0509030403020204"/>
              <a:ea typeface="Source Code Pro" panose="020B0509030403020204"/>
              <a:cs typeface="Source Code Pro" panose="020B0509030403020204"/>
              <a:sym typeface="Source Code Pro" panose="020B0509030403020204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F0FF"/>
                </a:solidFill>
                <a:latin typeface="Source Code Pro" panose="020B0509030403020204"/>
                <a:ea typeface="Source Code Pro" panose="020B0509030403020204"/>
                <a:cs typeface="Source Code Pro" panose="020B0509030403020204"/>
                <a:sym typeface="Source Code Pro" panose="020B0509030403020204"/>
              </a:rPr>
              <a:t>Jeicor Flórez</a:t>
            </a:r>
            <a:endParaRPr sz="1800">
              <a:solidFill>
                <a:srgbClr val="00F0FF"/>
              </a:solidFill>
              <a:latin typeface="Source Code Pro" panose="020B0509030403020204"/>
              <a:ea typeface="Source Code Pro" panose="020B0509030403020204"/>
              <a:cs typeface="Source Code Pro" panose="020B0509030403020204"/>
              <a:sym typeface="Source Code Pro" panose="020B0509030403020204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F0FF"/>
                </a:solidFill>
                <a:latin typeface="Source Code Pro" panose="020B0509030403020204"/>
                <a:ea typeface="Source Code Pro" panose="020B0509030403020204"/>
                <a:cs typeface="Source Code Pro" panose="020B0509030403020204"/>
                <a:sym typeface="Source Code Pro" panose="020B0509030403020204"/>
              </a:rPr>
              <a:t>Omar Cote</a:t>
            </a:r>
            <a:endParaRPr sz="1800">
              <a:solidFill>
                <a:srgbClr val="00F0FF"/>
              </a:solidFill>
              <a:latin typeface="Source Code Pro" panose="020B0509030403020204"/>
              <a:ea typeface="Source Code Pro" panose="020B0509030403020204"/>
              <a:cs typeface="Source Code Pro" panose="020B0509030403020204"/>
              <a:sym typeface="Source Code Pro" panose="020B0509030403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72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96497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71525" y="1964965"/>
            <a:ext cx="50388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En nuestro reto construiremos cohetes propulsados por agua para determinar su velocidad y aceleración. </a:t>
            </a:r>
            <a:endParaRPr sz="1800">
              <a:solidFill>
                <a:srgbClr val="00F0FF"/>
              </a:solidFill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581025" y="2588865"/>
            <a:ext cx="28575" cy="30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81025" y="3131790"/>
            <a:ext cx="28575" cy="304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771525" y="3551003"/>
            <a:ext cx="5038800" cy="7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Para dicho </a:t>
            </a:r>
            <a:r>
              <a:rPr lang="en-US" sz="190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fin combinaremos herramientas experimentales y métodos numéricos. </a:t>
            </a:r>
            <a:endParaRPr sz="1800" b="1">
              <a:solidFill>
                <a:srgbClr val="00F0FF"/>
              </a:solidFill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581025" y="3674715"/>
            <a:ext cx="28575" cy="30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81025" y="4217640"/>
            <a:ext cx="28575" cy="304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71525" y="4760565"/>
            <a:ext cx="5038800" cy="12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El interés principal del reto es que nos permita responder a la pregunta de cómo es el movimiento de sistemas con masa variable. </a:t>
            </a:r>
            <a:endParaRPr sz="1800" b="1">
              <a:solidFill>
                <a:srgbClr val="00F0FF"/>
              </a:solidFill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81025" y="4760565"/>
            <a:ext cx="28575" cy="30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Introducción</a:t>
            </a:r>
            <a:endParaRPr lang="en-US" sz="345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81025" y="1158180"/>
            <a:ext cx="110299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737075" y="2332075"/>
            <a:ext cx="4683475" cy="326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72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96497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771525" y="2588865"/>
            <a:ext cx="5038800" cy="16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¿Cómo influye la variación de masa en la dinámica de un cohete hidráhulico y cómo puede modelarse su movimiento a partir de datos experimentales?</a:t>
            </a:r>
            <a:endParaRPr sz="1900">
              <a:solidFill>
                <a:srgbClr val="00F0FF"/>
              </a:solidFill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81025" y="2588865"/>
            <a:ext cx="28500" cy="30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81025" y="3131790"/>
            <a:ext cx="28500" cy="304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771525" y="3551003"/>
            <a:ext cx="5038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A0A0A0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 </a:t>
            </a:r>
            <a:endParaRPr lang="en-US" sz="1500">
              <a:solidFill>
                <a:srgbClr val="A0A0A0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81025" y="3674715"/>
            <a:ext cx="28500" cy="30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81025" y="4217640"/>
            <a:ext cx="28500" cy="3048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Pregunta central</a:t>
            </a:r>
            <a:endParaRPr lang="en-US" sz="345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81025" y="1158180"/>
            <a:ext cx="11030100" cy="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810325" y="1179475"/>
            <a:ext cx="5800799" cy="459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7275" y="17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96497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63750" y="2080650"/>
            <a:ext cx="5490600" cy="22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1 - Obtención de datos</a:t>
            </a:r>
            <a:endParaRPr sz="1950" b="1">
              <a:solidFill>
                <a:srgbClr val="00F0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50" b="1">
              <a:solidFill>
                <a:srgbClr val="00F0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50" b="1">
              <a:solidFill>
                <a:srgbClr val="00F0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2 - Construcción del modelo experimental</a:t>
            </a:r>
            <a:endParaRPr sz="1950" b="1">
              <a:solidFill>
                <a:srgbClr val="00F0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50" b="1">
              <a:solidFill>
                <a:srgbClr val="00F0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50" b="1">
              <a:solidFill>
                <a:srgbClr val="00F0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3 - Análisis dinámico</a:t>
            </a:r>
            <a:endParaRPr sz="1950" b="1">
              <a:solidFill>
                <a:srgbClr val="00F0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581025" y="3596580"/>
            <a:ext cx="5229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16"/>
          <p:cNvSpPr txBox="1"/>
          <p:nvPr/>
        </p:nvSpPr>
        <p:spPr>
          <a:xfrm>
            <a:off x="962025" y="4501455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" name="Google Shape;130;p16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Objetivos</a:t>
            </a:r>
            <a:endParaRPr lang="en-US" sz="345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81025" y="1158180"/>
            <a:ext cx="110299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596950" y="1223375"/>
            <a:ext cx="5884051" cy="491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7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656425" y="1537300"/>
            <a:ext cx="68064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Ecuación central:</a:t>
            </a:r>
            <a:endParaRPr lang="en-US" sz="1950" b="1">
              <a:solidFill>
                <a:srgbClr val="00F0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 flipH="1">
            <a:off x="803900" y="4949675"/>
            <a:ext cx="6806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00F0FF"/>
              </a:solidFill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575798" y="3281249"/>
            <a:ext cx="368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17"/>
          <p:cNvSpPr txBox="1"/>
          <p:nvPr/>
        </p:nvSpPr>
        <p:spPr>
          <a:xfrm>
            <a:off x="4648200" y="3744217"/>
            <a:ext cx="289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7"/>
          <p:cNvSpPr txBox="1"/>
          <p:nvPr/>
        </p:nvSpPr>
        <p:spPr>
          <a:xfrm>
            <a:off x="8420100" y="1537376"/>
            <a:ext cx="289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17"/>
          <p:cNvSpPr txBox="1"/>
          <p:nvPr/>
        </p:nvSpPr>
        <p:spPr>
          <a:xfrm>
            <a:off x="305300" y="6462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           Modelo matemático del movimiento</a:t>
            </a:r>
            <a:endParaRPr lang="en-US" sz="345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1025" y="1158180"/>
            <a:ext cx="110299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5" name="Google Shape;145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167700" y="1158175"/>
            <a:ext cx="3400425" cy="56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48200" y="1497149"/>
            <a:ext cx="9239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1025" y="3168153"/>
            <a:ext cx="995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Ecuación</a:t>
            </a:r>
            <a:r>
              <a:rPr lang="en-US" sz="1900" b="1" dirty="0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de Bernoulli:</a:t>
            </a:r>
            <a:endParaRPr sz="1900" b="1" dirty="0">
              <a:solidFill>
                <a:srgbClr val="00F0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648200" y="3203387"/>
            <a:ext cx="22860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81025" y="4365520"/>
            <a:ext cx="995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Ecuación</a:t>
            </a:r>
            <a:r>
              <a:rPr lang="en-US" sz="1900" b="1" dirty="0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de </a:t>
            </a:r>
            <a:r>
              <a:rPr lang="en-US" sz="1900" b="1" dirty="0" err="1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continuidad</a:t>
            </a:r>
            <a:r>
              <a:rPr lang="en-US" sz="1900" b="1" dirty="0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sz="1900" b="1" dirty="0">
              <a:solidFill>
                <a:srgbClr val="00F0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0" name="Google Shape;150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648200" y="4502154"/>
            <a:ext cx="8763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2236717"/>
            <a:ext cx="3142590" cy="47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381750" y="2033587"/>
            <a:ext cx="549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18"/>
          <p:cNvSpPr txBox="1"/>
          <p:nvPr/>
        </p:nvSpPr>
        <p:spPr>
          <a:xfrm>
            <a:off x="6381750" y="2496442"/>
            <a:ext cx="5229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18"/>
          <p:cNvSpPr txBox="1"/>
          <p:nvPr/>
        </p:nvSpPr>
        <p:spPr>
          <a:xfrm>
            <a:off x="6381750" y="4953892"/>
            <a:ext cx="5229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18"/>
          <p:cNvSpPr txBox="1"/>
          <p:nvPr/>
        </p:nvSpPr>
        <p:spPr>
          <a:xfrm>
            <a:off x="6762750" y="2953642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18"/>
          <p:cNvSpPr txBox="1"/>
          <p:nvPr/>
        </p:nvSpPr>
        <p:spPr>
          <a:xfrm>
            <a:off x="6762750" y="3401317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18"/>
          <p:cNvSpPr txBox="1"/>
          <p:nvPr/>
        </p:nvSpPr>
        <p:spPr>
          <a:xfrm>
            <a:off x="6762750" y="4153792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" name="Google Shape;164;p18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Materiales</a:t>
            </a:r>
            <a:endParaRPr lang="en-US" sz="345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81025" y="1158180"/>
            <a:ext cx="110299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81025" y="2033575"/>
            <a:ext cx="6415175" cy="37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937250" y="2033575"/>
            <a:ext cx="3673725" cy="36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96497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81025" y="2693640"/>
            <a:ext cx="5229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492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900"/>
              <a:buFont typeface="Lato" panose="020F0502020204030203"/>
              <a:buAutoNum type="arabicPeriod"/>
            </a:pPr>
            <a:r>
              <a:rPr lang="en-US" sz="190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Preparación del prototipo.</a:t>
            </a:r>
            <a:endParaRPr sz="1900" b="1">
              <a:solidFill>
                <a:srgbClr val="00F0FF"/>
              </a:solidFill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581025" y="3188940"/>
            <a:ext cx="5229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0FF"/>
                </a:solidFill>
              </a:rPr>
              <a:t>2.    Carga de masa variable. </a:t>
            </a:r>
            <a:endParaRPr sz="1900" b="1">
              <a:solidFill>
                <a:srgbClr val="00F0FF"/>
              </a:solidFill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81025" y="3684240"/>
            <a:ext cx="5229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0FF"/>
                </a:solidFill>
              </a:rPr>
              <a:t>3.    Presurización. </a:t>
            </a:r>
            <a:endParaRPr sz="1900" b="1">
              <a:solidFill>
                <a:srgbClr val="00F0FF"/>
              </a:solidFill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581025" y="4179540"/>
            <a:ext cx="5229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FFF"/>
                </a:solidFill>
              </a:rPr>
              <a:t>4.    Lanzamiento y captura</a:t>
            </a:r>
            <a:r>
              <a:rPr lang="en-US" sz="1900">
                <a:solidFill>
                  <a:srgbClr val="00FFFF"/>
                </a:solidFill>
              </a:rPr>
              <a:t>. </a:t>
            </a:r>
            <a:endParaRPr sz="1900">
              <a:solidFill>
                <a:srgbClr val="00FFFF"/>
              </a:solidFill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Metodología</a:t>
            </a:r>
            <a:endParaRPr lang="en-US" sz="345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81025" y="1158180"/>
            <a:ext cx="110299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11925" y="4567775"/>
            <a:ext cx="913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Análisis de datos. </a:t>
            </a:r>
            <a:endParaRPr sz="1900" b="1">
              <a:solidFill>
                <a:srgbClr val="00F0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1" name="Google Shape;181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895975" y="1393475"/>
            <a:ext cx="571500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7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656425" y="1537300"/>
            <a:ext cx="68064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Ecuación central:</a:t>
            </a:r>
            <a:endParaRPr lang="en-US" sz="1950" b="1">
              <a:solidFill>
                <a:srgbClr val="00F0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 flipH="1">
            <a:off x="803900" y="4949675"/>
            <a:ext cx="6806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00F0FF"/>
              </a:solidFill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575798" y="3281249"/>
            <a:ext cx="368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17"/>
          <p:cNvSpPr txBox="1"/>
          <p:nvPr/>
        </p:nvSpPr>
        <p:spPr>
          <a:xfrm>
            <a:off x="4648200" y="3744217"/>
            <a:ext cx="289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7"/>
          <p:cNvSpPr txBox="1"/>
          <p:nvPr/>
        </p:nvSpPr>
        <p:spPr>
          <a:xfrm>
            <a:off x="8420100" y="1537376"/>
            <a:ext cx="289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17"/>
          <p:cNvSpPr txBox="1"/>
          <p:nvPr/>
        </p:nvSpPr>
        <p:spPr>
          <a:xfrm>
            <a:off x="305300" y="6462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           Modelo matemático del movimiento</a:t>
            </a:r>
            <a:endParaRPr lang="en-US" sz="345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1025" y="1158180"/>
            <a:ext cx="110299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5" name="Google Shape;145;p1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167700" y="1158175"/>
            <a:ext cx="3400425" cy="56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648200" y="1497149"/>
            <a:ext cx="9239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81025" y="3168153"/>
            <a:ext cx="995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Ecuación</a:t>
            </a:r>
            <a:r>
              <a:rPr lang="en-US" sz="1900" b="1" dirty="0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de Bernoulli:</a:t>
            </a:r>
            <a:endParaRPr sz="1900" b="1" dirty="0">
              <a:solidFill>
                <a:srgbClr val="00F0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648200" y="3203387"/>
            <a:ext cx="2286000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81025" y="4365520"/>
            <a:ext cx="99501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 err="1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Ecuación</a:t>
            </a:r>
            <a:r>
              <a:rPr lang="en-US" sz="1900" b="1" dirty="0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de </a:t>
            </a:r>
            <a:r>
              <a:rPr lang="en-US" sz="1900" b="1" dirty="0" err="1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continuidad</a:t>
            </a:r>
            <a:r>
              <a:rPr lang="en-US" sz="1900" b="1" dirty="0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:</a:t>
            </a:r>
            <a:endParaRPr sz="1900" b="1" dirty="0">
              <a:solidFill>
                <a:srgbClr val="00F0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0" name="Google Shape;150;p17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4648200" y="4502154"/>
            <a:ext cx="8763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2236717"/>
            <a:ext cx="3142590" cy="47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727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 flipH="1">
            <a:off x="803900" y="4949675"/>
            <a:ext cx="6806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00F0FF"/>
              </a:solidFill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575798" y="3281249"/>
            <a:ext cx="3681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7"/>
          <p:cNvSpPr txBox="1"/>
          <p:nvPr/>
        </p:nvSpPr>
        <p:spPr>
          <a:xfrm>
            <a:off x="8420100" y="1537376"/>
            <a:ext cx="2895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17"/>
          <p:cNvSpPr txBox="1"/>
          <p:nvPr/>
        </p:nvSpPr>
        <p:spPr>
          <a:xfrm>
            <a:off x="305300" y="646225"/>
            <a:ext cx="11581500" cy="582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s-E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M</a:t>
            </a:r>
            <a:r>
              <a:rPr lang="en-US" alt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é</a:t>
            </a:r>
            <a:r>
              <a:rPr lang="en-US" altLang="es-E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todo del "Boyle-</a:t>
            </a:r>
            <a:r>
              <a:rPr lang="en-US" alt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ó</a:t>
            </a:r>
            <a:r>
              <a:rPr lang="en-US" altLang="es-E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metro"</a:t>
            </a:r>
            <a:endParaRPr lang="en-US" altLang="es-ES" sz="345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1025" y="1158180"/>
            <a:ext cx="110299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820" y="1692275"/>
            <a:ext cx="7331710" cy="44202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381750" y="2033587"/>
            <a:ext cx="549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9" name="Google Shape;159;p18"/>
          <p:cNvSpPr txBox="1"/>
          <p:nvPr/>
        </p:nvSpPr>
        <p:spPr>
          <a:xfrm>
            <a:off x="6381750" y="2496442"/>
            <a:ext cx="5229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18"/>
          <p:cNvSpPr txBox="1"/>
          <p:nvPr/>
        </p:nvSpPr>
        <p:spPr>
          <a:xfrm>
            <a:off x="6381750" y="4953892"/>
            <a:ext cx="5229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1" name="Google Shape;161;p18"/>
          <p:cNvSpPr txBox="1"/>
          <p:nvPr/>
        </p:nvSpPr>
        <p:spPr>
          <a:xfrm>
            <a:off x="6762750" y="2953642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2" name="Google Shape;162;p18"/>
          <p:cNvSpPr txBox="1"/>
          <p:nvPr/>
        </p:nvSpPr>
        <p:spPr>
          <a:xfrm>
            <a:off x="6762750" y="3401317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18"/>
          <p:cNvSpPr txBox="1"/>
          <p:nvPr/>
        </p:nvSpPr>
        <p:spPr>
          <a:xfrm>
            <a:off x="6762750" y="4153792"/>
            <a:ext cx="4848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" name="Google Shape;164;p18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Materiales</a:t>
            </a:r>
            <a:endParaRPr lang="en-US" sz="345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581025" y="1158180"/>
            <a:ext cx="110299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81025" y="2033575"/>
            <a:ext cx="6415175" cy="37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937250" y="2033575"/>
            <a:ext cx="3673725" cy="363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96497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581025" y="2693640"/>
            <a:ext cx="5229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492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F0FF"/>
              </a:buClr>
              <a:buSzPts val="1900"/>
              <a:buFont typeface="Lato" panose="020F0502020204030203"/>
              <a:buAutoNum type="arabicPeriod"/>
            </a:pPr>
            <a:r>
              <a:rPr lang="en-US" sz="1900" b="1">
                <a:solidFill>
                  <a:srgbClr val="00F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Preparación del prototipo.</a:t>
            </a:r>
            <a:endParaRPr sz="1900" b="1">
              <a:solidFill>
                <a:srgbClr val="00F0FF"/>
              </a:solidFill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581025" y="3188940"/>
            <a:ext cx="5229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0FF"/>
                </a:solidFill>
              </a:rPr>
              <a:t>2.    Carga de masa variable. </a:t>
            </a:r>
            <a:endParaRPr sz="1900" b="1">
              <a:solidFill>
                <a:srgbClr val="00F0FF"/>
              </a:solidFill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581025" y="3684240"/>
            <a:ext cx="5229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0FF"/>
                </a:solidFill>
              </a:rPr>
              <a:t>3.    Presurización. </a:t>
            </a:r>
            <a:endParaRPr sz="1900" b="1">
              <a:solidFill>
                <a:srgbClr val="00F0FF"/>
              </a:solidFill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581025" y="4179540"/>
            <a:ext cx="5229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FFF"/>
                </a:solidFill>
              </a:rPr>
              <a:t>4.    Lanzamiento y captura</a:t>
            </a:r>
            <a:r>
              <a:rPr lang="en-US" sz="1900">
                <a:solidFill>
                  <a:srgbClr val="00FFFF"/>
                </a:solidFill>
              </a:rPr>
              <a:t>. </a:t>
            </a:r>
            <a:endParaRPr sz="1900">
              <a:solidFill>
                <a:srgbClr val="00FFFF"/>
              </a:solidFill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581025" y="581025"/>
            <a:ext cx="115815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>
                <a:solidFill>
                  <a:srgbClr val="FFFFFF"/>
                </a:solidFill>
                <a:latin typeface="Cinzel"/>
                <a:ea typeface="Cinzel"/>
                <a:cs typeface="Cinzel"/>
                <a:sym typeface="Cinzel"/>
              </a:rPr>
              <a:t>Metodología</a:t>
            </a:r>
            <a:endParaRPr lang="en-US" sz="3450" b="1">
              <a:solidFill>
                <a:srgbClr val="FFFFFF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81025" y="1158180"/>
            <a:ext cx="1102995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11925" y="4567775"/>
            <a:ext cx="91383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rgbClr val="00F0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5.    Análisis de datos. </a:t>
            </a:r>
            <a:endParaRPr sz="1900" b="1">
              <a:solidFill>
                <a:srgbClr val="00F0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1" name="Google Shape;181;p1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5895975" y="1393475"/>
            <a:ext cx="571500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1192</Words>
  <Application>WPS Presentation</Application>
  <PresentationFormat>Panorámica</PresentationFormat>
  <Paragraphs>76</Paragraphs>
  <Slides>11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Cinzel</vt:lpstr>
      <vt:lpstr>Source Code Pro</vt:lpstr>
      <vt:lpstr>Lato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lastModifiedBy>jeicor flores</cp:lastModifiedBy>
  <cp:revision>4</cp:revision>
  <dcterms:created xsi:type="dcterms:W3CDTF">2026-03-11T17:25:37Z</dcterms:created>
  <dcterms:modified xsi:type="dcterms:W3CDTF">2026-03-11T17:51:40Z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C7D69B42F104498E9A67E26DA6C842EF_13</vt:lpwstr>
  </property>
  <property fmtid="{D5CDD505-2E9C-101B-9397-08002B2CF9AE}" pid="3" name="KSOProductBuildVer">
    <vt:lpwstr>3082-12.2.0.23196</vt:lpwstr>
  </property>
</Properties>
</file>